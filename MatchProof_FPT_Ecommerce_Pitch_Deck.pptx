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13ed8148534a04" /><Relationship Type="http://schemas.openxmlformats.org/officeDocument/2006/relationships/extended-properties" Target="/docProps/app.xml" Id="Rffb02e9c990f40c9" /><Relationship Type="http://schemas.openxmlformats.org/officeDocument/2006/relationships/officeDocument" Target="/ppt/presentation.xml" Id="Rd9def1fe781645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3a81a1daec4341"/>
  </p:sldMasterIdLst>
  <p:notesMasterIdLst>
    <p:notesMasterId xmlns:r="http://schemas.openxmlformats.org/officeDocument/2006/relationships" r:id="R4b665846d4b14ab7"/>
  </p:notesMasterIdLst>
  <p:sldIdLst>
    <p:sldId xmlns:r="http://schemas.openxmlformats.org/officeDocument/2006/relationships" id="256" r:id="R7d5d752e6437478c"/>
    <p:sldId xmlns:r="http://schemas.openxmlformats.org/officeDocument/2006/relationships" id="257" r:id="R926aebff201346f8"/>
    <p:sldId xmlns:r="http://schemas.openxmlformats.org/officeDocument/2006/relationships" id="258" r:id="R2c85f883c9df4cd9"/>
    <p:sldId xmlns:r="http://schemas.openxmlformats.org/officeDocument/2006/relationships" id="259" r:id="R5ef0ef926df84fc7"/>
    <p:sldId xmlns:r="http://schemas.openxmlformats.org/officeDocument/2006/relationships" id="260" r:id="Rebba131dd8024336"/>
    <p:sldId xmlns:r="http://schemas.openxmlformats.org/officeDocument/2006/relationships" id="261" r:id="Rb788d101d83a4d40"/>
    <p:sldId xmlns:r="http://schemas.openxmlformats.org/officeDocument/2006/relationships" id="262" r:id="Rcf9cff81cdc1446c"/>
    <p:sldId xmlns:r="http://schemas.openxmlformats.org/officeDocument/2006/relationships" id="263" r:id="R131c6b2e844f4c74"/>
    <p:sldId xmlns:r="http://schemas.openxmlformats.org/officeDocument/2006/relationships" id="264" r:id="Rb970fa1c42ea48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f0a976f0964525" /><Relationship Type="http://schemas.openxmlformats.org/officeDocument/2006/relationships/slideMaster" Target="/ppt/slideMasters/slideMaster1.xml" Id="R6e3a81a1daec4341" /><Relationship Type="http://schemas.openxmlformats.org/officeDocument/2006/relationships/notesMaster" Target="/ppt/notesMasters/notesMaster1.xml" Id="R4b665846d4b14ab7" /><Relationship Type="http://schemas.openxmlformats.org/officeDocument/2006/relationships/presProps" Target="/ppt/presProps.xml" Id="R05031327d0a6455f" /><Relationship Type="http://schemas.openxmlformats.org/officeDocument/2006/relationships/tableStyles" Target="/ppt/tableStyles.xml" Id="R7937e9c7b4f1484b" /><Relationship Type="http://schemas.openxmlformats.org/officeDocument/2006/relationships/slide" Target="/ppt/slides/slide1.xml" Id="R7d5d752e6437478c" /><Relationship Type="http://schemas.openxmlformats.org/officeDocument/2006/relationships/slide" Target="/ppt/slides/slide2.xml" Id="R926aebff201346f8" /><Relationship Type="http://schemas.openxmlformats.org/officeDocument/2006/relationships/slide" Target="/ppt/slides/slide3.xml" Id="R2c85f883c9df4cd9" /><Relationship Type="http://schemas.openxmlformats.org/officeDocument/2006/relationships/slide" Target="/ppt/slides/slide4.xml" Id="R5ef0ef926df84fc7" /><Relationship Type="http://schemas.openxmlformats.org/officeDocument/2006/relationships/slide" Target="/ppt/slides/slide5.xml" Id="Rebba131dd8024336" /><Relationship Type="http://schemas.openxmlformats.org/officeDocument/2006/relationships/slide" Target="/ppt/slides/slide6.xml" Id="Rb788d101d83a4d40" /><Relationship Type="http://schemas.openxmlformats.org/officeDocument/2006/relationships/slide" Target="/ppt/slides/slide7.xml" Id="Rcf9cff81cdc1446c" /><Relationship Type="http://schemas.openxmlformats.org/officeDocument/2006/relationships/slide" Target="/ppt/slides/slide8.xml" Id="R131c6b2e844f4c74" /><Relationship Type="http://schemas.openxmlformats.org/officeDocument/2006/relationships/slide" Target="/ppt/slides/slide9.xml" Id="Rb970fa1c42ea48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8098fa83a4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3450c977cc4f53" /><Relationship Type="http://schemas.openxmlformats.org/officeDocument/2006/relationships/notesMaster" Target="/ppt/notesMasters/notesMaster1.xml" Id="R3bfec44737b74b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88afda86cd4c8f" /><Relationship Type="http://schemas.openxmlformats.org/officeDocument/2006/relationships/notesMaster" Target="/ppt/notesMasters/notesMaster1.xml" Id="Rb747f874c2914b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397dae1fb24a87" /><Relationship Type="http://schemas.openxmlformats.org/officeDocument/2006/relationships/notesMaster" Target="/ppt/notesMasters/notesMaster1.xml" Id="Rd513291188ae41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8e6d26ad5e4921" /><Relationship Type="http://schemas.openxmlformats.org/officeDocument/2006/relationships/notesMaster" Target="/ppt/notesMasters/notesMaster1.xml" Id="Ra0a61d432e564e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66b1f6ace04530" /><Relationship Type="http://schemas.openxmlformats.org/officeDocument/2006/relationships/notesMaster" Target="/ppt/notesMasters/notesMaster1.xml" Id="Rcedd74e39ab44f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c43b186eef4a42" /><Relationship Type="http://schemas.openxmlformats.org/officeDocument/2006/relationships/notesMaster" Target="/ppt/notesMasters/notesMaster1.xml" Id="R2a0bbaa9918a40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a0aa69539b4884" /><Relationship Type="http://schemas.openxmlformats.org/officeDocument/2006/relationships/notesMaster" Target="/ppt/notesMasters/notesMaster1.xml" Id="Rf5abc2de8c0e4b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13225fb3e24e2b" /><Relationship Type="http://schemas.openxmlformats.org/officeDocument/2006/relationships/notesMaster" Target="/ppt/notesMasters/notesMaster1.xml" Id="R20f0558f5f964f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aefe85e38f4f15" /><Relationship Type="http://schemas.openxmlformats.org/officeDocument/2006/relationships/notesMaster" Target="/ppt/notesMasters/notesMaster1.xml" Id="R08bd60b5fe9a49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FPT Problem Statement Final.pdf for the challenge framing and FPT/UAVS logos. MatchProof repository assets for the watch image. Team name from MatchProof_Round_1_Proposal.pdf.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problem description. FPT Problem Statement Final.pdf describes the merchant-side B2A challenge, semantic intention matching, and the need to decode complex, multi-constraint requests.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Scenario supplied by the user. The outfit image is an illustrative project catalog asset from the H&amp;M competition sample; see data/README.md for non-commercial licensing limits. The deck does not represent this as a measured live query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implementation files src/extraction/intent.ts, src/embedding/gemini.ts, src/mcp/searchPipeline.ts, src/ranking/rank.ts, and src/server.ts. Diagram is editable. Gemini model names and sqlite-vec reflect the current repository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src/ranking/rank.ts. The repository ranks eligible items by preferred matches and vector similarity, while mandatory-condition failures remain secondary results. Product image is an illustrative local demo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src/server.ts, src/mcp/format.ts, and src/mcp/ui/productResults.ts. The response shown is illustrative, not a captured live transaction. Current transport is MCP JSON-RPC over stdio.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User-supplied solution framing and repository architecture. These are expected merchant benefits and hypotheses for a pilot, not measured commercial outcomes. FPT Problem Statement Final.pdf identifies intention accuracy, technical architecture, and business value as evaluation priorities.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README.md, task.md, package.json, and current source tree. TypeScript tsc --noEmit passed on 13 Sep 2026. The local demo-catalog test currently stops because data/electronics/dress_watches_catalog.json is missing; the deck discloses this in small text rather than claiming all tests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Pilot scope is a proposal based on the current repository boundaries and the FPT challenge brief. No commercial performance claims are made. Suggested close: ask FPT for a single-category pilot catalog and an integration counterpart.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110c2f12f49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23c9e9f041428a" /><Relationship Type="http://schemas.openxmlformats.org/officeDocument/2006/relationships/slideLayout" Target="/ppt/slideLayouts/slideLayout1.xml" Id="Rc9f98bca1dc641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f98bca1dc641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76313526d4a1c" /><Relationship Type="http://schemas.openxmlformats.org/officeDocument/2006/relationships/image" Target="/ppt/media/image.png" Id="R562201977bc348ec" /><Relationship Type="http://schemas.openxmlformats.org/officeDocument/2006/relationships/image" Target="/ppt/media/image2.png" Id="R97c3c443701b474c" /><Relationship Type="http://schemas.openxmlformats.org/officeDocument/2006/relationships/image" Target="/ppt/media/image3.png" Id="R2a87eb278dc84ad5" /><Relationship Type="http://schemas.openxmlformats.org/officeDocument/2006/relationships/notesSlide" Target="/ppt/notesSlides/notesSlide1.xml" Id="Recda0d0d7b8d4f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ca628f78d4881" /><Relationship Type="http://schemas.openxmlformats.org/officeDocument/2006/relationships/notesSlide" Target="/ppt/notesSlides/notesSlide2.xml" Id="R8763c31c63d34f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5affe56fd4132" /><Relationship Type="http://schemas.openxmlformats.org/officeDocument/2006/relationships/image" Target="/ppt/media/image.jpeg" Id="Rf9cd60c9f3a048fa" /><Relationship Type="http://schemas.openxmlformats.org/officeDocument/2006/relationships/notesSlide" Target="/ppt/notesSlides/notesSlide3.xml" Id="R22ac38b7366445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7cda9df5f441f" /><Relationship Type="http://schemas.openxmlformats.org/officeDocument/2006/relationships/notesSlide" Target="/ppt/notesSlides/notesSlide4.xml" Id="R4540c42b56d04f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fb7739b7e45b7" /><Relationship Type="http://schemas.openxmlformats.org/officeDocument/2006/relationships/image" Target="/ppt/media/image4.png" Id="R7317b1d86abe4e5e" /><Relationship Type="http://schemas.openxmlformats.org/officeDocument/2006/relationships/notesSlide" Target="/ppt/notesSlides/notesSlide5.xml" Id="Rebddb9f6edd94e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7895188fc45b3" /><Relationship Type="http://schemas.openxmlformats.org/officeDocument/2006/relationships/image" Target="/ppt/media/image5.png" Id="R2b8bfb87e3c84fad" /><Relationship Type="http://schemas.openxmlformats.org/officeDocument/2006/relationships/notesSlide" Target="/ppt/notesSlides/notesSlide6.xml" Id="Rfddf88cc31ad46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6cae968724fa5" /><Relationship Type="http://schemas.openxmlformats.org/officeDocument/2006/relationships/notesSlide" Target="/ppt/notesSlides/notesSlide7.xml" Id="Raf1d2f75577c4a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0ed1683664295" /><Relationship Type="http://schemas.openxmlformats.org/officeDocument/2006/relationships/notesSlide" Target="/ppt/notesSlides/notesSlide8.xml" Id="Rdd9a905479eb4d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2b819e8634459" /><Relationship Type="http://schemas.openxmlformats.org/officeDocument/2006/relationships/notesSlide" Target="/ppt/notesSlides/notesSlide9.xml" Id="R3ee3807fba9246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201977bc348ec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4A29D-04C2-43EF-B807-87A760DF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85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7111F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26CAD-572A-4238-B8EA-DD9723D4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D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41D2E-EA82-440D-9A97-6019A0AF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F4CCC-E1DB-49B8-AB74-454EFAD2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10681-DA88-4278-8557-EF72975C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E7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ADB19-AC5C-4837-8C65-B6FA4166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rPr>
              <a:t>MATCHPROOF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EC18F-E2EF-450A-BF6E-A4317497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6191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Agent-ready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multimodal discovery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C5FD5-305F-44B3-A957-A80C5525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A merchant-side search pipeline for FPT ecommerce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8970B-3620-4D34-890D-1AB1724E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5B6C1-8C57-45A1-8E18-4614C63E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Team Mát nét   ·   UAVS Hackathon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58BFB-C3BF-4A9C-A4C2-97E5FD69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257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3c443701b474c"/>
          <a:stretch xmlns:a="http://schemas.openxmlformats.org/drawingml/2006/main"/>
        </p:blipFill>
        <p:spPr>
          <a:xfrm xmlns:a="http://schemas.openxmlformats.org/drawingml/2006/main">
            <a:off x="952500" y="6010275"/>
            <a:ext cx="7239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7975C-9973-4C67-BC99-F8C9C879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62650"/>
            <a:ext cx="1257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7eb278dc84ad5"/>
          <a:stretch xmlns:a="http://schemas.openxmlformats.org/drawingml/2006/main"/>
        </p:blipFill>
        <p:spPr>
          <a:xfrm xmlns:a="http://schemas.openxmlformats.org/drawingml/2006/main">
            <a:off x="2395105" y="6048375"/>
            <a:ext cx="658091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74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DB27F-AF0C-4BE2-B5BF-366A81C2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28B1C-9773-407F-B25C-B10D2BB4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643B6-3FB6-4082-ABE5-4736C0B2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B5A29-8C58-44A0-B3D9-EDA3B299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E7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6C81D-A22A-4DBA-8913-BBE11241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Product search stops at the catalog surface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2CF68-CE50-4796-BEA1-CC7D5768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B4C7C-ED23-4942-A8A6-223A1C75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AE9A5-E750-4A43-9C0B-328CFF21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WHAT MERCHANTS EXPOSE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C8D3D-0567-4DFE-86EB-608D93BB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Text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089E8-7BDC-426C-90BA-BDBEC166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Works when the buyer uses the same words as the catalog.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F1516-770A-41BA-BA33-4022B10D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32E8DE-ACCF-4456-8741-4B57B92E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Image 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6DAF7-8C8B-4A18-8788-EE5ECB3A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Works only when visual meaning has been captured in metadata or a compatible visual index.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F0D2E-C9AF-47CA-B67B-2E61B360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57300"/>
            <a:ext cx="381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497A2-307E-4728-92F3-6C6B96E9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573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rPr>
              <a:t>WHAT AGENTS ACTUALLY 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B6718-19A3-4936-8597-2D40BAE5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“Here is what I’m wearing. Find a smartwatch that suits it for a wedding.”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DC482-88A6-4D7C-BCDB-1731B59A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57625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The answer depends on the image, the occasion, the requested product type, and the merchant’s actual inventory.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32F08-BD7A-4046-9473-E6EFF942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Today, those signals rarely meet in one retrieval path.</a:t>
            </a:r>
          </a:p>
        </p:txBody>
      </p:sp>
    </p:spTree>
    <p:extLst>
      <p:ext uri="{BB962C8B-B14F-4D97-AF65-F5344CB8AC3E}">
        <p14:creationId xmlns:p14="http://schemas.microsoft.com/office/powerpoint/2010/main" val="938914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1D7DD-D3C5-4916-A627-A5A76C9D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D27B1-DD0F-48F8-9D32-866E4C8C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AC2AF-4476-45C2-BA67-EC59C174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D7E83-B0F3-4D53-B36D-01D4A2ED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E7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9FEA2-22DB-4CF2-B017-C0BE203F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One request carries two kinds of intent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2CED08-B4D9-4FA0-BF7D-81B8E978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C52D9-31D2-444E-AD0C-51FAAC46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d60c9f3a048fa"/>
          <a:srcRect xmlns:a="http://schemas.openxmlformats.org/drawingml/2006/main" l="3454" t="0" r="34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257300"/>
            <a:ext cx="3333750" cy="44196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144C6-C8C5-440E-A11B-4C5DA0A1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2876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11F">
              <a:alpha val="80000"/>
            </a:srgbClr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113EA-41C2-4ACC-80CE-750C857F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01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rPr>
              <a:t>REFERENCE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32D77-0ACE-40C0-A216-43F88097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66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8BE5B-E690-4303-A971-D07E9E1D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66850"/>
            <a:ext cx="6096000" cy="232410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E14BA-F9B6-41D8-846E-CB54E9F8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5381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“Find a smartwatch that looks right with this outfit at a wedding. Keep it understated and suitable for all-day wear.”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A136E-8F43-4CF8-823C-E484975C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71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rPr>
              <a:t>The image supplies visual style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7B99A-F924-40E0-9938-452108D9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863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The text supplies product type, occasion, and preferences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EBD63-94FE-4D38-936C-F79CA53E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05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MatchProof combines both before searching.</a:t>
            </a:r>
          </a:p>
        </p:txBody>
      </p:sp>
    </p:spTree>
    <p:extLst>
      <p:ext uri="{BB962C8B-B14F-4D97-AF65-F5344CB8AC3E}">
        <p14:creationId xmlns:p14="http://schemas.microsoft.com/office/powerpoint/2010/main" val="705695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1FDD4-0962-4750-99F9-57A599D5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247CF-67FE-402A-B285-F121723E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82F0B-C9EB-4AA2-A60E-CF736D00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D57DD-9E37-453B-8C58-F6D44B40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E7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3EA3A-3002-4DD8-95E1-2D687C0C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Merchant-side multimodal retrieval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E627C-FF69-40B2-9ACB-67DB7B52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BCB5D-D5F6-49D8-A0D8-7D7A2628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61D3D-C9B4-4C77-9B3D-44E54133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CATALOG PREPARATION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501AD-5E43-4FE6-95A3-14C2D369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2381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Product image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+ existing metadata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DAC28-158A-45DE-BDE9-3618FA5A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2381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Gemini multimodal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9E517-21D1-40FB-81AA-D6B5B60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81150"/>
            <a:ext cx="2381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Shared vector index</a:t>
            </a:r>
          </a:p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(sqlite-vec)</a:t>
            </a:r>
          </a:p>
        </p:txBody>
      </p: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67050" y="20764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2F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191250" y="20764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2F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D364E-AD59-49BD-9BEB-0826970E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3355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Image meaning no longer depends only on merchant-authored visual tags.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E6361-64D3-4441-90FB-6717B662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rPr>
              <a:t>LIVE AGENT REQUEST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A0BC4-8AAD-4EA1-B335-FAC7FCDE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MCP call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image +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55D083-6E53-4A80-A256-2FD96485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814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LLM intent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8C7C6-1121-40C1-8DEB-84ECE2B3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814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Query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embedding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A01443-4E99-48D3-9253-36BA4781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814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Retrieve +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11B54-1DB3-44A6-83F3-C03DCA4B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814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384A"/>
          </a:solidFill>
          <a:ln xmlns:a="http://schemas.openxmlformats.org/drawingml/2006/main" w="19050">
            <a:solidFill>
              <a:srgbClr val="31D5C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Ranked result</a:t>
            </a:r>
          </a:p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with evidence</a:t>
            </a:r>
          </a:p>
        </p:txBody>
      </p:sp>
      <p:cxnSp>
        <p:nvCxnSpPr>
          <p:cNvPr id="46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495550" y="41148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D5C8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724400" y="41148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D5C8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953250" y="41148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D5C8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82100" y="41148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D5C8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6F7EE4-DD84-4554-ACA5-8F1CE315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Intent is rewritten before retrieval, then mandatory conditions gate the final answer.</a:t>
            </a:r>
          </a:p>
        </p:txBody>
      </p:sp>
    </p:spTree>
    <p:extLst>
      <p:ext uri="{BB962C8B-B14F-4D97-AF65-F5344CB8AC3E}">
        <p14:creationId xmlns:p14="http://schemas.microsoft.com/office/powerpoint/2010/main" val="183996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2DCFB-FB75-482C-BF18-1CAE13F0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9A5F7-5E8A-48BC-8199-B4533823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EF2A2-4CAE-4649-904A-59489E31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3C3AE-E54D-4DF7-BFD1-B44CF61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E7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91612-42B2-4C6D-B173-C03AA373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Relevance and eligibility serve different jobs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830E6-E93F-49F5-BFDF-3A2FCCEA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5E2F1-6E86-41D9-A453-CC0A3960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7b1d86abe4e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390650"/>
            <a:ext cx="3143250" cy="3143250"/>
          </a:xfrm>
          <a:prstGeom xmlns:a="http://schemas.openxmlformats.org/drawingml/2006/main" prst="roundRect">
            <a:avLst>
              <a:gd name="adj" fmla="val 606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520FD-2B1C-443C-A511-EC70D3DF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rPr>
              <a:t>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1D453-6925-4880-863E-90F16E40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Find visually and semantically close candidates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C4361-C290-4375-8457-CC42D9AC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7924C-398F-4CF6-8BEA-62F6D297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90650"/>
            <a:ext cx="62103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31D12-8260-4840-BB8B-2C1D40CB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33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ELIGIBILITY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7ECCC-E304-4F22-AE5D-E11D28DF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Mandatory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7DB67-D79D-4F08-AD27-7E801BF3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4795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Correct product type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Fits the occasion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Within any hard limits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06203-298D-41FB-A0B3-DAA2FC61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190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DD720-A3FA-437C-8307-28DC392C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Preferred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C6D68-8D3B-40E0-9A8E-2584F8AA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Understated styling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Dark face or strap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Comfort for all-day wear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55DC9-7E8B-439B-9A0C-74BFA67E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A highly similar item can still be rejected when it fails a mandatory condition.</a:t>
            </a:r>
          </a:p>
        </p:txBody>
      </p:sp>
    </p:spTree>
    <p:extLst>
      <p:ext uri="{BB962C8B-B14F-4D97-AF65-F5344CB8AC3E}">
        <p14:creationId xmlns:p14="http://schemas.microsoft.com/office/powerpoint/2010/main" val="102124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F5C00-2AFB-4174-8A9C-7DD49B9C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E478F-A71D-4039-843A-6351237B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2A65E-B2BB-48C3-8914-E0B3B35F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7EBB6-3A60-4891-8530-76685A86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E7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E9E12-42AD-41BC-8F55-8E75A952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The interface today is MCP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943F8-D99D-4452-A7AB-CD46165E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93CCA6-C2A9-4402-9E52-B0F872F8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B85B3-9538-45A4-967C-233E4F33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Buyer agents call a merchant tool and receive structured results they can inspect, compare, and continue from.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bfb87e3c84fad"/>
          <a:srcRect xmlns:a="http://schemas.openxmlformats.org/drawingml/2006/main" l="5128" t="0" r="51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866900"/>
            <a:ext cx="3333750" cy="371475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E0EA5-8F85-446F-9392-FECD169D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66900"/>
            <a:ext cx="70675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0A1422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EE6CC-FA09-4289-876E-73F3C74A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52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rPr>
              <a:t>ILLUSTRATIVE TOOL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18F65-6998-4342-83E8-89BBF69E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F6127-D002-4C7D-B580-8B49DD03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C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BCB4B"/>
                </a:solidFill>
                <a:latin typeface="Helvetica Neue"/>
                <a:ea typeface="Helvetica Neue"/>
                <a:cs typeface="Helvetica Neue"/>
              </a:rPr>
              <a:t>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3803E-1AA2-4565-A8F4-8F4297F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8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top_result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C177E-3CF7-4177-9335-DA3506F3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formal smartwatch 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0EA69-050B-4E76-A865-4172C548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48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why_match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3FB24F-A080-41AD-95B7-1D5F20DA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formal styling aligns with the reference outfit and wedding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9BE91-8BC3-4B58-81ED-D3881857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71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4BDDD-3DD5-41EA-A9F0-2305FAD6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per-condition outcomes, source metadata, similarity, near misses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91503-CBA5-4848-8012-80BCE9BA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next_action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B26AE-C561-4753-B836-9C2D6EB2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clarify, bundle, or pass the selected product to commerce APIs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78C5F-7424-49F6-ABF3-7D3EC41C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Same decision payload powers the inline product-card view.</a:t>
            </a:r>
          </a:p>
        </p:txBody>
      </p:sp>
    </p:spTree>
    <p:extLst>
      <p:ext uri="{BB962C8B-B14F-4D97-AF65-F5344CB8AC3E}">
        <p14:creationId xmlns:p14="http://schemas.microsoft.com/office/powerpoint/2010/main" val="507504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3AA11-595D-4081-810A-1FCD462A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B0E9A-B366-4C80-A172-4B2A8ADA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4374F2-7EDF-4832-9148-A1B2D145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E9D81-67EB-490E-BFD4-EC5A4AD7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E7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61F81-204C-49F2-A363-E5555FF1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What this gives an FPT retail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C9C0B-3F4D-400B-9C5E-203410DF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22ED1-BC2A-4B39-A7AD-0DF11B3B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1CFFE-38BD-47DF-B0B0-FDF49EBE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81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1EC5E-74C9-40F2-A0A0-635A5293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049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More inventory becomes discoverable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FBEE8-0FA0-4FB4-A546-4E33F9E8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The image contributes meaning directly, reducing reliance on manually authored visual descriptors for every product.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008B9-7A99-43CA-BA30-9209B89D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336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AE70F-B2DC-438D-ACFC-AD5492FE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781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589E7-8B12-4FBD-82F2-46600669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718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Recommendations become easier to 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309B0-0D98-4D58-BC59-5CEEE187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The response shows why an item matched and keeps mandatory failures visible as near misses instead of hiding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EBBF3-5666-4B20-869A-D32B5E5C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4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5E57F-54BA-4C1E-B244-4ED083F7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781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BC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6BCB4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D7A62-2E31-49DD-992D-2408514A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386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One merchant layer can serve many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F4BCA-5A36-4F9E-889A-B336DC08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MCP exposes the capability today. Commerce adapters can connect the same pipeline to future agent protocols and channels.</a:t>
            </a:r>
          </a:p>
        </p:txBody>
      </p:sp>
    </p:spTree>
    <p:extLst>
      <p:ext uri="{BB962C8B-B14F-4D97-AF65-F5344CB8AC3E}">
        <p14:creationId xmlns:p14="http://schemas.microsoft.com/office/powerpoint/2010/main" val="8711383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DBDA8F-A2D0-4695-8232-4A9C65D9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9F263-5254-4A39-AA16-A244D41C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2790D-0FC7-43A3-AC23-803AC8BA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CBC0D-F679-4303-8101-4DE125CD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E7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C3368-AB7E-4D43-8E69-3D63A4E3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Prototype scope and production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11DAC-88A1-472A-A019-16DC556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97BE7-8596-49E0-BE15-EA9E201F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52736-05F6-401A-A947-05BDC7AE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rPr>
              <a:t>IMPLEMENTED IN THE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6859C-A715-43F9-8B0A-039DC6EA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TypeScript MCP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10716-E487-4BB1-BF39-61B20406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Structured intent extraction with clarification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63145-8912-4FB1-B752-9F3ACBF2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Gemini image + text embeddings with sqlite-vec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D52EF-04DD-41B2-A28A-DA8CC3F6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Mandatory and preferred checks with explainable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41543-636D-42F8-90B5-34AB907D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Search, matching, complement, bundle, and clarification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41B83-1ECA-4776-BA78-040526FF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Inline MCP product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2581E-EAD4-4EC8-9529-0DDFBFBB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257300"/>
            <a:ext cx="381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7989D-3025-4E8C-BC11-3DE90FA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57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PRODUCTION WORK REMAINING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8F166-05C4-4514-BC00-FD0E2849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Live merchant catalog sync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5A66AE-834D-4269-A994-5374CD41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Tenant isolation, durable sessions, and operational 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167740-7BF8-4FC9-8BEF-225730BE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Availability and price revalidation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E5DFD-30ED-45D0-8F3D-A862E03C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Checkout or order creation integration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C4106-7D82-42CA-8937-6D1E0E3F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Evaluation on a real retail catalog and real agent traffic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4AFC6-6F64-4161-8241-56270CC0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95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Demo hardening: refresh fixtures and complete the end-to-end rehearsal.</a:t>
            </a:r>
          </a:p>
        </p:txBody>
      </p:sp>
    </p:spTree>
    <p:extLst>
      <p:ext uri="{BB962C8B-B14F-4D97-AF65-F5344CB8AC3E}">
        <p14:creationId xmlns:p14="http://schemas.microsoft.com/office/powerpoint/2010/main" val="1086623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C4FFE-37CF-434C-AE74-501EE36C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BD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E3A1D-1BB4-4208-9FAF-47AF5BC8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2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7E615E-031C-47EA-80C8-255E3347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B4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029C1-B6FC-4466-965F-6AF404BE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3E7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AEF34-2BC2-4B5A-95A1-EA9C18F9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A focused FPT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93B77-A63A-44EE-B2D8-4E196C34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Prove the pipeline on one high-intent retail category with a real catalog and a defined query 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1BA45-BF3D-43F8-A89F-D0B824EB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857500" cy="1885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29065-7E2A-4C2C-B886-122D53DA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857500" cy="1885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013E4-7929-4342-AC69-864EC0E9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857500" cy="18859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731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D60C1-0E19-4C75-8C5B-C2E59842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1B0A7-1AD9-43E4-8AFD-C812F69B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07F97-08FE-49E6-B37C-E7D1B238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Map product images and existing catalog fields into the merchant index.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584FA-300F-4A98-9811-10A617D2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00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7A2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16217-FFB5-4A66-ADBC-BDA7295A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Benchmark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9A206-8857-4AA6-B51D-F42EEF00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385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Test complex agent requests, failure cases, and useful abstentions.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DF5CD-7DEC-416B-A846-BC52DE1D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00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BC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BCB4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E8BC9-5CE8-4529-AC6B-B0CDE6E7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Integrate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3B58E-6711-44F2-9E81-63C37E6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Add live availability, price checks, and a handoff to checkout.</a:t>
            </a:r>
          </a:p>
        </p:txBody>
      </p: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24250" y="35147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1D5C8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35147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2F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513A0-4898-48B7-9136-723F1AF3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What we need from FPT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68AB4-1241-463B-8068-E7981B85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9BED0"/>
                </a:solidFill>
                <a:latin typeface="Helvetica Neue"/>
                <a:ea typeface="Helvetica Neue"/>
                <a:cs typeface="Helvetica Neue"/>
              </a:rPr>
              <a:t>A sample merchant catalog, an integration owner, and agreed success criteria for agent recommendations.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D2CB8-AAA3-4351-8563-73F6B4BA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197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1D5C8"/>
                </a:solidFill>
                <a:latin typeface="Helvetica Neue"/>
                <a:ea typeface="Helvetica Neue"/>
                <a:cs typeface="Helvetica Neue"/>
              </a:rPr>
              <a:t>TEAM MÁT NÉT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5C9B5A-E1A1-46BD-A54C-9A397B74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05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7FAFC"/>
                </a:solidFill>
                <a:latin typeface="Helvetica Neue"/>
                <a:ea typeface="Helvetica Neue"/>
                <a:cs typeface="Helvetica Neue"/>
              </a:rPr>
              <a:t>MATCHPROOF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538799-EEE3-4F80-B7BC-89502D06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MATCHPROOF   ·   FPT AUSTRALASIA CHALLENGE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EF581-68EE-48A4-9EF3-6667D92B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2869A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014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2026-09-13T04:41:34.3800000Z</dcterms:created>
  <dcterms:modified xsi:type="dcterms:W3CDTF">2026-09-13T04:41:34.3800000Z</dcterms:modified>
</coreProperties>
</file>